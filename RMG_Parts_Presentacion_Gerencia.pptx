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508760" cy="5916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2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A GERENCIA · RMG PARTS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30352" y="269748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puesta en marcha a la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comercial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45262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 el sistema, cómo funciona realmente el proceso comercial, y los caminos posibles con la alianza Cruzeiro.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3492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 </a:t>
            </a:r>
            <a:pPr algn="ctr" indent="0" marL="0">
              <a:buNone/>
            </a:pPr>
            <a:r>
              <a:rPr lang="en-US" sz="1150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977640" y="534924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</p:sp>
      <p:sp>
        <p:nvSpPr>
          <p:cNvPr id="9" name="Text 6"/>
          <p:cNvSpPr/>
          <p:nvPr/>
        </p:nvSpPr>
        <p:spPr>
          <a:xfrm>
            <a:off x="3977640" y="53492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 </a:t>
            </a:r>
            <a:pPr algn="ctr" indent="0" marL="0">
              <a:buNone/>
            </a:pPr>
            <a:r>
              <a:rPr lang="en-US" sz="1150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comercial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Carlos Contreras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Ejecutor del proyecto RMG Parts · 25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41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JULIO · PUESTA EN MARCHA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vender, había que construir la herramienta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0848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julio se completó el desarrollo del ERP: la base técnica sobre la que corre todo el trabajo comercial de agosto.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3544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788920"/>
            <a:ext cx="365760" cy="365760"/>
          </a:xfrm>
          <a:prstGeom prst="ellipse">
            <a:avLst/>
          </a:prstGeom>
          <a:solidFill>
            <a:srgbClr val="E3F5F3"/>
          </a:solidFill>
          <a:ln/>
        </p:spPr>
      </p:sp>
      <p:sp>
        <p:nvSpPr>
          <p:cNvPr id="8" name="Shape 5"/>
          <p:cNvSpPr/>
          <p:nvPr/>
        </p:nvSpPr>
        <p:spPr>
          <a:xfrm>
            <a:off x="859536" y="2898648"/>
            <a:ext cx="146304" cy="146304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227832"/>
            <a:ext cx="314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B2B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3520440"/>
            <a:ext cx="314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industrial ordenado por rubro y disponible para prospección y cotización.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2064" y="2606040"/>
            <a:ext cx="3544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3232" y="2788920"/>
            <a:ext cx="365760" cy="36576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2960" y="2898648"/>
            <a:ext cx="146304" cy="146304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4" name="Text 11"/>
          <p:cNvSpPr/>
          <p:nvPr/>
        </p:nvSpPr>
        <p:spPr>
          <a:xfrm>
            <a:off x="4523232" y="3227832"/>
            <a:ext cx="314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clientes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23232" y="3520440"/>
            <a:ext cx="314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empresas cargadas — visibilidad de pipeline por primera vez en un solo lugar.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95488" y="2606040"/>
            <a:ext cx="3544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6656" y="2788920"/>
            <a:ext cx="365760" cy="365760"/>
          </a:xfrm>
          <a:prstGeom prst="ellipse">
            <a:avLst/>
          </a:prstGeom>
          <a:solidFill>
            <a:srgbClr val="FBF0DD"/>
          </a:solidFill>
          <a:ln/>
        </p:spPr>
      </p:sp>
      <p:sp>
        <p:nvSpPr>
          <p:cNvPr id="18" name="Shape 15"/>
          <p:cNvSpPr/>
          <p:nvPr/>
        </p:nvSpPr>
        <p:spPr>
          <a:xfrm>
            <a:off x="8406384" y="2898648"/>
            <a:ext cx="146304" cy="146304"/>
          </a:xfrm>
          <a:prstGeom prst="ellipse">
            <a:avLst/>
          </a:prstGeom>
          <a:solidFill>
            <a:srgbClr val="B8720A"/>
          </a:solidFill>
          <a:ln/>
        </p:spPr>
      </p:sp>
      <p:sp>
        <p:nvSpPr>
          <p:cNvPr id="19" name="Text 16"/>
          <p:cNvSpPr/>
          <p:nvPr/>
        </p:nvSpPr>
        <p:spPr>
          <a:xfrm>
            <a:off x="8296656" y="3227832"/>
            <a:ext cx="314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financiero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96656" y="3520440"/>
            <a:ext cx="314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gastos, compras y flujo de caja centralizados y auditables.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206240"/>
            <a:ext cx="3544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808" y="4389120"/>
            <a:ext cx="365760" cy="365760"/>
          </a:xfrm>
          <a:prstGeom prst="ellipse">
            <a:avLst/>
          </a:prstGeom>
          <a:solidFill>
            <a:srgbClr val="E3F5F3"/>
          </a:solidFill>
          <a:ln/>
        </p:spPr>
      </p:sp>
      <p:sp>
        <p:nvSpPr>
          <p:cNvPr id="23" name="Shape 20"/>
          <p:cNvSpPr/>
          <p:nvPr/>
        </p:nvSpPr>
        <p:spPr>
          <a:xfrm>
            <a:off x="859536" y="4498848"/>
            <a:ext cx="146304" cy="146304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4828032"/>
            <a:ext cx="314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campañas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49808" y="5120640"/>
            <a:ext cx="314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masivo con seguimiento de apertura — listo para escalar cuando se decida usarlo.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322064" y="4206240"/>
            <a:ext cx="3544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3232" y="4389120"/>
            <a:ext cx="365760" cy="36576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632960" y="4498848"/>
            <a:ext cx="146304" cy="146304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9" name="Text 26"/>
          <p:cNvSpPr/>
          <p:nvPr/>
        </p:nvSpPr>
        <p:spPr>
          <a:xfrm>
            <a:off x="4523232" y="4828032"/>
            <a:ext cx="314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Vistony (IA)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523232" y="5120640"/>
            <a:ext cx="314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 producto correcto por necesidad — acelera la respuesta comercial.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95488" y="4206240"/>
            <a:ext cx="3544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96656" y="4389120"/>
            <a:ext cx="365760" cy="365760"/>
          </a:xfrm>
          <a:prstGeom prst="ellipse">
            <a:avLst/>
          </a:prstGeom>
          <a:solidFill>
            <a:srgbClr val="FBF0DD"/>
          </a:solidFill>
          <a:ln/>
        </p:spPr>
      </p:sp>
      <p:sp>
        <p:nvSpPr>
          <p:cNvPr id="33" name="Shape 30"/>
          <p:cNvSpPr/>
          <p:nvPr/>
        </p:nvSpPr>
        <p:spPr>
          <a:xfrm>
            <a:off x="8406384" y="4498848"/>
            <a:ext cx="146304" cy="146304"/>
          </a:xfrm>
          <a:prstGeom prst="ellipse">
            <a:avLst/>
          </a:prstGeom>
          <a:solidFill>
            <a:srgbClr val="B8720A"/>
          </a:solidFill>
          <a:ln/>
        </p:spPr>
      </p:sp>
      <p:sp>
        <p:nvSpPr>
          <p:cNvPr id="34" name="Text 31"/>
          <p:cNvSpPr/>
          <p:nvPr/>
        </p:nvSpPr>
        <p:spPr>
          <a:xfrm>
            <a:off x="8296656" y="4828032"/>
            <a:ext cx="314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automático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296656" y="5120640"/>
            <a:ext cx="314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seguridad cada 2 horas — continuidad operativa del sistema.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8640" y="608076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E3F5F3"/>
          </a:solidFill>
          <a:ln/>
        </p:spPr>
      </p:sp>
      <p:sp>
        <p:nvSpPr>
          <p:cNvPr id="37" name="Text 34"/>
          <p:cNvSpPr/>
          <p:nvPr/>
        </p:nvSpPr>
        <p:spPr>
          <a:xfrm>
            <a:off x="777240" y="608076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agosto:  </a:t>
            </a:r>
            <a:pPr indent="0" marL="0">
              <a:buNone/>
            </a:pPr>
            <a:r>
              <a:rPr lang="en-US" sz="1150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ya estaba listo — el foco pasó a ser 100% comercial.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41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AGOSTO · GESTIÓN COMERCIAL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la puerta no es cerrar la venta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BF0DD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210312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decisión de agosto: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foco de segmento es empresas, industrias y constructoras — no talleres mecánicos ni lubricentros.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999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comercial real, en cuatro pasos: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685032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9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361688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6360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contactadas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correo y teléfono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90138" y="3840480"/>
            <a:ext cx="2567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E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390138" y="457200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390138" y="484632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interés, dudas,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 respuesta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31636" y="3520440"/>
            <a:ext cx="256717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1636" y="3685032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7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231636" y="4361688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31636" y="46360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aprobadas en el ERP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$147.650 CLP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073134" y="3840480"/>
            <a:ext cx="2567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E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073134" y="457200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073134" y="484632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hito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proceso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5532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filtra: de 51 empresas contactadas, algunas no responden, otras piden más información, y un grupo llega a cotización. Es el comportamiento normal de una venta B2B — no un resultado inmediato.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41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 · AGOSTO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frentes, fuera de la base de Cruzeiro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240280"/>
            <a:ext cx="3544824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514600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E3F5F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5146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9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227832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Correo directo multi-rubro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959352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Ascensores, minería y maquinaria pesada — empresas encontradas por búsqueda propia, fuera del dashboard.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5138928"/>
            <a:ext cx="2996184" cy="310896"/>
          </a:xfrm>
          <a:prstGeom prst="rect">
            <a:avLst>
              <a:gd name="adj" fmla="val 17647"/>
            </a:avLst>
          </a:prstGeom>
          <a:solidFill>
            <a:srgbClr val="E3F5F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138928"/>
            <a:ext cx="299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 correo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22064" y="2240280"/>
            <a:ext cx="3544824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6384" y="2514600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FBF0DD"/>
          </a:solidFill>
          <a:ln/>
        </p:spPr>
      </p:sp>
      <p:sp>
        <p:nvSpPr>
          <p:cNvPr id="14" name="Text 11"/>
          <p:cNvSpPr/>
          <p:nvPr/>
        </p:nvSpPr>
        <p:spPr>
          <a:xfrm>
            <a:off x="4596384" y="25146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7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596384" y="3227832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telefónico — ascensores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96384" y="3959352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adicionales del mismo rubro, contactadas solo por llamado — sin registro en el correo.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96384" y="5138928"/>
            <a:ext cx="2996184" cy="310896"/>
          </a:xfrm>
          <a:prstGeom prst="rect">
            <a:avLst>
              <a:gd name="adj" fmla="val 17647"/>
            </a:avLst>
          </a:prstGeom>
          <a:solidFill>
            <a:srgbClr val="FBF0DD"/>
          </a:solidFill>
          <a:ln/>
        </p:spPr>
      </p:sp>
      <p:sp>
        <p:nvSpPr>
          <p:cNvPr id="18" name="Text 15"/>
          <p:cNvSpPr/>
          <p:nvPr/>
        </p:nvSpPr>
        <p:spPr>
          <a:xfrm>
            <a:off x="4596384" y="5138928"/>
            <a:ext cx="299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 teléfono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095488" y="2240280"/>
            <a:ext cx="3544824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69808" y="2514600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EFECFF"/>
          </a:solidFill>
          <a:ln/>
        </p:spPr>
      </p:sp>
      <p:sp>
        <p:nvSpPr>
          <p:cNvPr id="21" name="Text 18"/>
          <p:cNvSpPr/>
          <p:nvPr/>
        </p:nvSpPr>
        <p:spPr>
          <a:xfrm>
            <a:off x="8369808" y="25146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369808" y="3227832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Reactivación clientes dormidos (Vistony)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369808" y="3959352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entregada por el proveedor, clasificada y contactada por teléfono — en general sin interés o sin respuesta por WhatsApp.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369808" y="5138928"/>
            <a:ext cx="2996184" cy="310896"/>
          </a:xfrm>
          <a:prstGeom prst="rect">
            <a:avLst>
              <a:gd name="adj" fmla="val 17647"/>
            </a:avLst>
          </a:prstGeom>
          <a:solidFill>
            <a:srgbClr val="EFECFF"/>
          </a:solidFill>
          <a:ln/>
        </p:spPr>
      </p:sp>
      <p:sp>
        <p:nvSpPr>
          <p:cNvPr id="25" name="Text 22"/>
          <p:cNvSpPr/>
          <p:nvPr/>
        </p:nvSpPr>
        <p:spPr>
          <a:xfrm>
            <a:off x="8369808" y="5138928"/>
            <a:ext cx="299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43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 teléfono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empresas contactadas directamente en agosto — ninguna proviene de la base de Cruzeiro.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41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mayor activo del período no se ha tocado todavía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Cruzeiro, en cifras reales (ene–jul 2026)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5943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6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C6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C6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$1.157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eCommerce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$213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Público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Mesón / otros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9768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EFECFF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42976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43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7 meses:  </a:t>
            </a:r>
            <a:pPr indent="0" marL="0">
              <a:buNone/>
            </a:pPr>
            <a:r>
              <a:rPr lang="en-US" sz="1150" dirty="0">
                <a:solidFill>
                  <a:srgbClr val="543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$1.489 MM CLP · 2.917 clientes únicos · $213 MM/mes promedio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812280" y="2331720"/>
            <a:ext cx="4828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086600" y="2560320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no se ha tocado?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086600" y="2953512"/>
            <a:ext cx="4279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puso freno deliberado a prospectar directamente sobre esta base mientras se negocia la alianza — salvo las campañas ya realizadas dentro del propio ERP, sobre bases propias de RMG.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086600" y="4069080"/>
            <a:ext cx="4279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la relación y la confidencialidad es parte de la estrategia — no un descuido.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4937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estimado según el paper interno y la propuesta a Cruzeiro (penetración 10–20% de su base compatible):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51937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un estudio de consumo por tamaño de empresa (pequeña, mediana y grande) en los sectores ya establecidos — las cifras de abajo usan solo los segmentos pequeño y mediano: el escenario más conservador.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5559552"/>
            <a:ext cx="35753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565099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· mes 1–3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31520" y="5870448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 – $15 MM/mes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31520" y="619963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clientes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306824" y="5559552"/>
            <a:ext cx="35753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89704" y="565099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· mes 4–8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489704" y="5870448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 – $50 MM/mes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4489704" y="619963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 clientes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065008" y="5559552"/>
            <a:ext cx="35753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47888" y="565099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· mes 9–18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247888" y="5870448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 – $150 MM/mes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8247888" y="619963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clientes + licitaciones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41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caminos, uno sin conflicto con el otro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5385816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45059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94436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la alianza se cierra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lanzamiento a 90 días, con condiciones comerciales ya definidas en la propuesta: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3931920"/>
            <a:ext cx="365760" cy="365760"/>
          </a:xfrm>
          <a:prstGeom prst="ellipse">
            <a:avLst/>
          </a:prstGeom>
          <a:solidFill>
            <a:srgbClr val="E3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390448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—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acuerdo, capacitación al equipo de Cruzeiro, catálogo activo con precios B2B.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4553712"/>
            <a:ext cx="365760" cy="365760"/>
          </a:xfrm>
          <a:prstGeom prst="ellipse">
            <a:avLst/>
          </a:prstGeom>
          <a:solidFill>
            <a:srgbClr val="E3F5F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80160" y="4526280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—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comercial: fuerza de venta de Cruzeiro ofrece Vistony a su propia cartera.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77240" y="5175504"/>
            <a:ext cx="365760" cy="365760"/>
          </a:xfrm>
          <a:prstGeom prst="ellipse">
            <a:avLst/>
          </a:prstGeom>
          <a:solidFill>
            <a:srgbClr val="E3F5F3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80160" y="5148072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—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Consolidación, canal eCommerce, evaluación de licitaciones (Mercado Público).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54496" y="2194560"/>
            <a:ext cx="5385816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83096" y="24505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</p:sp>
      <p:sp>
        <p:nvSpPr>
          <p:cNvPr id="21" name="Text 18"/>
          <p:cNvSpPr/>
          <p:nvPr/>
        </p:nvSpPr>
        <p:spPr>
          <a:xfrm>
            <a:off x="6483096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 · EN PARALELO, SIEMPRE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83096" y="294436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comprometer la base de Cruzeiro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483096" y="3383280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prospección propia no depende del resultado de la reunión — se sigue trabajando con independencia de la respuesta de Cruzeiro: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83096" y="3931920"/>
            <a:ext cx="365760" cy="365760"/>
          </a:xfrm>
          <a:prstGeom prst="ellipse">
            <a:avLst/>
          </a:prstGeom>
          <a:solidFill>
            <a:srgbClr val="FBF0DD"/>
          </a:solidFill>
          <a:ln/>
        </p:spPr>
      </p:sp>
      <p:sp>
        <p:nvSpPr>
          <p:cNvPr id="25" name="Text 22"/>
          <p:cNvSpPr/>
          <p:nvPr/>
        </p:nvSpPr>
        <p:spPr>
          <a:xfrm>
            <a:off x="648309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986016" y="390448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el pipeline propio ya construido — ascensores, minería, maquinaria y clientes dormidos — con fuentes públicas y contacto directo.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83096" y="4553712"/>
            <a:ext cx="365760" cy="365760"/>
          </a:xfrm>
          <a:prstGeom prst="ellipse">
            <a:avLst/>
          </a:prstGeom>
          <a:solidFill>
            <a:srgbClr val="FBF0DD"/>
          </a:solidFill>
          <a:ln/>
        </p:spPr>
      </p:sp>
      <p:sp>
        <p:nvSpPr>
          <p:cNvPr id="28" name="Text 25"/>
          <p:cNvSpPr/>
          <p:nvPr/>
        </p:nvSpPr>
        <p:spPr>
          <a:xfrm>
            <a:off x="6483096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86016" y="4526280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Mercado Público como canal propio: información de licitaciones abierta al público, sin conflicto de confidencialidad.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83096" y="5175504"/>
            <a:ext cx="365760" cy="365760"/>
          </a:xfrm>
          <a:prstGeom prst="ellipse">
            <a:avLst/>
          </a:prstGeom>
          <a:solidFill>
            <a:srgbClr val="FBF0DD"/>
          </a:solidFill>
          <a:ln/>
        </p:spPr>
      </p:sp>
      <p:sp>
        <p:nvSpPr>
          <p:cNvPr id="31" name="Text 28"/>
          <p:cNvSpPr/>
          <p:nvPr/>
        </p:nvSpPr>
        <p:spPr>
          <a:xfrm>
            <a:off x="6483096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86016" y="5148072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acceder ni usar la lista de clientes de Cruzeiro bajo ningún concepto hasta que exista un acuerdo firmado.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caminos avanzan a la vez, sin contradicción — el objetivo operativo del Escenario B se detalla a continuación.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41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DIARIA · ESCENARIO 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operativo de la prospección en frío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0848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0DD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2084832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motor propio, no una alternativa condicionada: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prospección en frío sigue activa con independencia de lo que resuelva Cruzeiro.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357530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9718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344728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prospectos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correo, cada día hábil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06824" y="2880360"/>
            <a:ext cx="357530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9704" y="29718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50–100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489704" y="344728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contactos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65008" y="2880360"/>
            <a:ext cx="357530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47888" y="29718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247888" y="344728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seguimientos por contacto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(día +3 y día +7)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 por contacto: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389120"/>
            <a:ext cx="256717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462272"/>
            <a:ext cx="229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4736592"/>
            <a:ext cx="229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inicial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115818" y="4553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390138" y="4389120"/>
            <a:ext cx="256717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27298" y="4462272"/>
            <a:ext cx="229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27298" y="4736592"/>
            <a:ext cx="229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1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57316" y="4553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31636" y="4389120"/>
            <a:ext cx="256717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68796" y="4462272"/>
            <a:ext cx="229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68796" y="4736592"/>
            <a:ext cx="229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2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798814" y="4553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73134" y="4389120"/>
            <a:ext cx="2567178" cy="685800"/>
          </a:xfrm>
          <a:prstGeom prst="roundRect">
            <a:avLst>
              <a:gd name="adj" fmla="val 10667"/>
            </a:avLst>
          </a:prstGeom>
          <a:solidFill>
            <a:srgbClr val="E3F5F3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210294" y="4462272"/>
            <a:ext cx="229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210294" y="4736592"/>
            <a:ext cx="229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o sin respuesta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3F5F3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5404104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conversión a reunión: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– 5% de los contactos trabajados — entre 2 y 5 reuniones nuevas por semana una vez el embudo esté en régimen (2–3 semanas de maduración, por los tiempos de seguimiento).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77240" y="589788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este trabajo lo ejecuta una sola persona — el objetivo está calibrado a esa capacidad, no a la de un equipo comercial.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41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CIFRAS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 con dos capas de trabajo simultáneas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2414016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49808" y="3017520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 desarrollo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(1–25 ago)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12920" y="2286000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14088" y="2414016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14088" y="3017520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directos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(correo + teléfono)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77200" y="2286000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8368" y="2414016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78368" y="3017520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con actividad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3721608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849624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$147.650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49808" y="445312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cotizaciones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aprobadas (14 y 24 ago)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12920" y="3721608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14088" y="3849624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514088" y="445312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aprobadas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ERP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77200" y="3721608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8368" y="3849624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ago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8278368" y="445312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confirmada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Cruzeiro Gomas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574243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3F5F3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742432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clave: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 una primera lectura parecía inactividad (15–25 ago) fue trabajo sostenido por correo y teléfono, uno a uno.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mg_timeline/rmg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41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frentes para las próximas semanas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540867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8096" y="244602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2446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3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89888" y="227685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la alianza con Cruzeiro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89888" y="2624328"/>
            <a:ext cx="43571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confirmada jueves 27 de agosto — paper terminado.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31636" y="2148840"/>
            <a:ext cx="540867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51092" y="244602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2" name="Text 9"/>
          <p:cNvSpPr/>
          <p:nvPr/>
        </p:nvSpPr>
        <p:spPr>
          <a:xfrm>
            <a:off x="6451092" y="2446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3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72884" y="227685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escenario a seguir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072884" y="2624328"/>
            <a:ext cx="43571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 vs. plan paralelo, según el resultado de la reunión.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401568"/>
            <a:ext cx="540867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3698748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" y="36987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3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89888" y="3529584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la prospección con Apollo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389888" y="3877056"/>
            <a:ext cx="43571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pipeline manual ya construido en agosto.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31636" y="3401568"/>
            <a:ext cx="540867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51092" y="3698748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22" name="Text 19"/>
          <p:cNvSpPr/>
          <p:nvPr/>
        </p:nvSpPr>
        <p:spPr>
          <a:xfrm>
            <a:off x="6451092" y="36987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3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72884" y="3529584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Profundizar el seguimiento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072884" y="3877056"/>
            <a:ext cx="43571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51 contactos ya realizados — identificar interés real.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4654296"/>
            <a:ext cx="540867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8096" y="4951476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27" name="Text 24"/>
          <p:cNvSpPr/>
          <p:nvPr/>
        </p:nvSpPr>
        <p:spPr>
          <a:xfrm>
            <a:off x="768096" y="49514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3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89888" y="4782312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criterio de segmento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389888" y="5129784"/>
            <a:ext cx="43571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industrias y construcción, en toda nueva prospección.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A2233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hito: reunión con Cruzeiro Gomas — jueves 27 de agosto de 2026.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2026-08-25T17:01:22Z</dcterms:created>
  <dcterms:modified xsi:type="dcterms:W3CDTF">2026-08-25T17:01:22Z</dcterms:modified>
</cp:coreProperties>
</file>