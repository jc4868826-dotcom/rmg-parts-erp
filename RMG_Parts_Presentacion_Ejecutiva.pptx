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" cy="20116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hape 1"/>
          <p:cNvSpPr/>
          <p:nvPr/>
        </p:nvSpPr>
        <p:spPr>
          <a:xfrm>
            <a:off x="630936" y="502920"/>
            <a:ext cx="45720" cy="201168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502920"/>
            <a:ext cx="45720" cy="201168"/>
          </a:xfrm>
          <a:prstGeom prst="rect">
            <a:avLst/>
          </a:prstGeom>
          <a:solidFill>
            <a:srgbClr val="12968F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4663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3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RMG AUTO PARTS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EJECUTIVO DE AVANCE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269748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código a la primera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alianza comercial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4526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RMG Parts — lubricantes, baterías y neumáticos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5440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para Juan Carlos Contreras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9AA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cubierto: 24 de junio – 25 de agosto de 2026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262872" y="5989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AGO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5720" cy="20116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hape 1"/>
          <p:cNvSpPr/>
          <p:nvPr/>
        </p:nvSpPr>
        <p:spPr>
          <a:xfrm>
            <a:off x="630936" y="365760"/>
            <a:ext cx="45720" cy="201168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365760"/>
            <a:ext cx="45720" cy="201168"/>
          </a:xfrm>
          <a:prstGeom prst="rect">
            <a:avLst/>
          </a:prstGeom>
          <a:solidFill>
            <a:srgbClr val="12968F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3291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RMG AUTO PARTS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LAS ETAPAS DEL INICIO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17043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estrategia a la primera venta aprobada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12968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06424" y="2400300"/>
            <a:ext cx="146304" cy="0"/>
          </a:xfrm>
          <a:prstGeom prst="line">
            <a:avLst/>
          </a:prstGeom>
          <a:noFill/>
          <a:ln w="19050">
            <a:solidFill>
              <a:srgbClr val="DEE3EA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02920" y="2770632"/>
            <a:ext cx="210494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jun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044952"/>
            <a:ext cx="21049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2920" y="3447288"/>
            <a:ext cx="212323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de mercado y estrategia de segmentos: baterías, lubricantes y neumáticos.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18181" y="2148840"/>
            <a:ext cx="502920" cy="502920"/>
          </a:xfrm>
          <a:prstGeom prst="ellipse">
            <a:avLst/>
          </a:prstGeom>
          <a:solidFill>
            <a:srgbClr val="12968F"/>
          </a:solidFill>
          <a:ln/>
        </p:spPr>
      </p:sp>
      <p:sp>
        <p:nvSpPr>
          <p:cNvPr id="15" name="Text 13"/>
          <p:cNvSpPr/>
          <p:nvPr/>
        </p:nvSpPr>
        <p:spPr>
          <a:xfrm>
            <a:off x="2818181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375965" y="2400300"/>
            <a:ext cx="146304" cy="0"/>
          </a:xfrm>
          <a:prstGeom prst="line">
            <a:avLst/>
          </a:prstGeom>
          <a:noFill/>
          <a:ln w="19050">
            <a:solidFill>
              <a:srgbClr val="DEE3EA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2772461" y="2770632"/>
            <a:ext cx="210494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jun – 9 jul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72461" y="3044952"/>
            <a:ext cx="21049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2772461" y="3447288"/>
            <a:ext cx="212323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marca e identidad visual RMG definitiva.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87722" y="2148840"/>
            <a:ext cx="502920" cy="502920"/>
          </a:xfrm>
          <a:prstGeom prst="ellipse">
            <a:avLst/>
          </a:prstGeom>
          <a:solidFill>
            <a:srgbClr val="12968F"/>
          </a:solidFill>
          <a:ln/>
        </p:spPr>
      </p:sp>
      <p:sp>
        <p:nvSpPr>
          <p:cNvPr id="21" name="Text 19"/>
          <p:cNvSpPr/>
          <p:nvPr/>
        </p:nvSpPr>
        <p:spPr>
          <a:xfrm>
            <a:off x="5087722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645506" y="2400300"/>
            <a:ext cx="146304" cy="0"/>
          </a:xfrm>
          <a:prstGeom prst="line">
            <a:avLst/>
          </a:prstGeom>
          <a:noFill/>
          <a:ln w="19050">
            <a:solidFill>
              <a:srgbClr val="DEE3EA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042002" y="2770632"/>
            <a:ext cx="210494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jun – 31 jul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42002" y="3044952"/>
            <a:ext cx="21049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(ERP)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042002" y="3447288"/>
            <a:ext cx="212323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completo: ventas, CRM, catálogo B2B y motor de campañas.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57262" y="2148840"/>
            <a:ext cx="502920" cy="502920"/>
          </a:xfrm>
          <a:prstGeom prst="ellipse">
            <a:avLst/>
          </a:prstGeom>
          <a:solidFill>
            <a:srgbClr val="12968F"/>
          </a:solidFill>
          <a:ln/>
        </p:spPr>
      </p:sp>
      <p:sp>
        <p:nvSpPr>
          <p:cNvPr id="27" name="Text 25"/>
          <p:cNvSpPr/>
          <p:nvPr/>
        </p:nvSpPr>
        <p:spPr>
          <a:xfrm>
            <a:off x="7357262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915046" y="2400300"/>
            <a:ext cx="146304" cy="0"/>
          </a:xfrm>
          <a:prstGeom prst="line">
            <a:avLst/>
          </a:prstGeom>
          <a:noFill/>
          <a:ln w="19050">
            <a:solidFill>
              <a:srgbClr val="DEE3EA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7311542" y="2770632"/>
            <a:ext cx="210494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14 ago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311542" y="3044952"/>
            <a:ext cx="21049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7311542" y="3447288"/>
            <a:ext cx="212323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4.205 prospectos B2B y estabilización técnica del sistema.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626803" y="2148840"/>
            <a:ext cx="502920" cy="502920"/>
          </a:xfrm>
          <a:prstGeom prst="ellipse">
            <a:avLst/>
          </a:prstGeom>
          <a:solidFill>
            <a:srgbClr val="B8720A"/>
          </a:solidFill>
          <a:ln/>
        </p:spPr>
      </p:sp>
      <p:sp>
        <p:nvSpPr>
          <p:cNvPr id="33" name="Text 31"/>
          <p:cNvSpPr/>
          <p:nvPr/>
        </p:nvSpPr>
        <p:spPr>
          <a:xfrm>
            <a:off x="9626803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581083" y="2770632"/>
            <a:ext cx="210494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– 25 ago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581083" y="3044952"/>
            <a:ext cx="21049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9581083" y="3447288"/>
            <a:ext cx="212323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Prospección directa multi-rubro y propuesta de alianza con Cruzeiro.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5989320"/>
            <a:ext cx="11091672" cy="502920"/>
          </a:xfrm>
          <a:prstGeom prst="rect">
            <a:avLst>
              <a:gd name="adj" fmla="val 14545"/>
            </a:avLst>
          </a:prstGeom>
          <a:solidFill>
            <a:srgbClr val="E3F5F3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5989320"/>
            <a:ext cx="10634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</a:t>
            </a:r>
            <a:pPr indent="0" marL="0">
              <a:buNone/>
            </a:pPr>
            <a:r>
              <a:rPr lang="en-US" sz="1150" dirty="0">
                <a:solidFill>
                  <a:srgbClr val="0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 el mes de mayor volumen de código; agosto trasladó ese trabajo al terreno comercial.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1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Puesta en marcha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91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de agosto de 2026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5720" cy="20116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hape 1"/>
          <p:cNvSpPr/>
          <p:nvPr/>
        </p:nvSpPr>
        <p:spPr>
          <a:xfrm>
            <a:off x="630936" y="365760"/>
            <a:ext cx="45720" cy="201168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365760"/>
            <a:ext cx="45720" cy="201168"/>
          </a:xfrm>
          <a:prstGeom prst="rect">
            <a:avLst/>
          </a:prstGeom>
          <a:solidFill>
            <a:srgbClr val="12968F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3291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RMG AUTO PARTS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LOS FOCOS DE HOY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17043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frentes abiertos en paralelo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3544824" cy="3703320"/>
          </a:xfrm>
          <a:prstGeom prst="roundRect">
            <a:avLst>
              <a:gd name="adj" fmla="val 2580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1A2233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468880"/>
            <a:ext cx="548640" cy="548640"/>
          </a:xfrm>
          <a:prstGeom prst="ellipse">
            <a:avLst/>
          </a:prstGeom>
          <a:solidFill>
            <a:srgbClr val="E3F5F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41248" y="3200400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Alianza Cruzeiro Gomas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41248" y="3931920"/>
            <a:ext cx="29596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distribución, no venta en frío a su base ya cargada. Cruzeiro incorpora lubricantes Vistony a su catálogo y los ofrece a sus 2.917 clientes.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41248" y="5285232"/>
            <a:ext cx="2959608" cy="347472"/>
          </a:xfrm>
          <a:prstGeom prst="rect">
            <a:avLst>
              <a:gd name="adj" fmla="val 15789"/>
            </a:avLst>
          </a:prstGeom>
          <a:solidFill>
            <a:srgbClr val="E3F5F3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5285232"/>
            <a:ext cx="2959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confirmada · jueves 27 de agosto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22064" y="2148840"/>
            <a:ext cx="3544824" cy="3703320"/>
          </a:xfrm>
          <a:prstGeom prst="roundRect">
            <a:avLst>
              <a:gd name="adj" fmla="val 2580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1A2233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42104" y="2468880"/>
            <a:ext cx="548640" cy="548640"/>
          </a:xfrm>
          <a:prstGeom prst="ellipse">
            <a:avLst/>
          </a:prstGeom>
          <a:solidFill>
            <a:srgbClr val="F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4642104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14672" y="3200400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Prospección directa multi-rubro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614672" y="3931920"/>
            <a:ext cx="29596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empresas de ascensores, minería y maquinaria pesada, encontradas fuera del dashboard — un pipeline propio mientras se cierra la alianza.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4672" y="5285232"/>
            <a:ext cx="2959608" cy="347472"/>
          </a:xfrm>
          <a:prstGeom prst="rect">
            <a:avLst>
              <a:gd name="adj" fmla="val 15789"/>
            </a:avLst>
          </a:prstGeom>
          <a:solidFill>
            <a:srgbClr val="FBF0DD"/>
          </a:solidFill>
          <a:ln/>
        </p:spPr>
      </p:sp>
      <p:sp>
        <p:nvSpPr>
          <p:cNvPr id="21" name="Text 19"/>
          <p:cNvSpPr/>
          <p:nvPr/>
        </p:nvSpPr>
        <p:spPr>
          <a:xfrm>
            <a:off x="4614672" y="5285232"/>
            <a:ext cx="2959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6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empresas · 3 rubros · 100% manual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095488" y="2148840"/>
            <a:ext cx="3544824" cy="3703320"/>
          </a:xfrm>
          <a:prstGeom prst="roundRect">
            <a:avLst>
              <a:gd name="adj" fmla="val 2580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  <a:effectLst>
            <a:outerShdw sx="100000" sy="100000" kx="0" ky="0" algn="bl" rotWithShape="0" blurRad="101600" dist="38100" dir="5400000">
              <a:srgbClr val="1A2233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415528" y="2468880"/>
            <a:ext cx="548640" cy="548640"/>
          </a:xfrm>
          <a:prstGeom prst="ellipse">
            <a:avLst/>
          </a:prstGeom>
          <a:solidFill>
            <a:srgbClr val="EFECFF"/>
          </a:solidFill>
          <a:ln/>
        </p:spPr>
      </p:sp>
      <p:sp>
        <p:nvSpPr>
          <p:cNvPr id="24" name="Text 22"/>
          <p:cNvSpPr/>
          <p:nvPr/>
        </p:nvSpPr>
        <p:spPr>
          <a:xfrm>
            <a:off x="8415528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388096" y="3200400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Estabilización técnica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8388096" y="3931920"/>
            <a:ext cx="29596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 de productos Vistony con IA, respaldo automático cada 2 horas y sincronización de precios — la base para escalar sin fricción.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388096" y="5285232"/>
            <a:ext cx="2959608" cy="347472"/>
          </a:xfrm>
          <a:prstGeom prst="rect">
            <a:avLst>
              <a:gd name="adj" fmla="val 15789"/>
            </a:avLst>
          </a:prstGeom>
          <a:solidFill>
            <a:srgbClr val="EFECFF"/>
          </a:solidFill>
          <a:ln/>
        </p:spPr>
      </p:sp>
      <p:sp>
        <p:nvSpPr>
          <p:cNvPr id="28" name="Text 26"/>
          <p:cNvSpPr/>
          <p:nvPr/>
        </p:nvSpPr>
        <p:spPr>
          <a:xfrm>
            <a:off x="8388096" y="5285232"/>
            <a:ext cx="2959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43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incidentes resueltos en el período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1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Focos actuales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89711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91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de agosto de 2026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5720" cy="20116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hape 1"/>
          <p:cNvSpPr/>
          <p:nvPr/>
        </p:nvSpPr>
        <p:spPr>
          <a:xfrm>
            <a:off x="630936" y="365760"/>
            <a:ext cx="45720" cy="201168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365760"/>
            <a:ext cx="45720" cy="201168"/>
          </a:xfrm>
          <a:prstGeom prst="rect">
            <a:avLst/>
          </a:prstGeom>
          <a:solidFill>
            <a:srgbClr val="12968F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3291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RMG AUTO PARTS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EL TRABAJO Y LA CONTINUIDAD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17043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mes con dos capas de trabajo simultáneas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3563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276856"/>
            <a:ext cx="319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49808" y="2880360"/>
            <a:ext cx="319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de desarrollo</a:t>
            </a:r>
            <a:endParaRPr lang="en-US" sz="10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(1–25 ago)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12920" y="2148840"/>
            <a:ext cx="3563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4088" y="2276856"/>
            <a:ext cx="319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14088" y="2880360"/>
            <a:ext cx="319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contactadas,</a:t>
            </a:r>
            <a:endParaRPr lang="en-US" sz="10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del dashboard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77200" y="2148840"/>
            <a:ext cx="3563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8368" y="2276856"/>
            <a:ext cx="319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14/25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278368" y="2880360"/>
            <a:ext cx="319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con actividad</a:t>
            </a:r>
            <a:endParaRPr lang="en-US" sz="10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584448"/>
            <a:ext cx="3563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712464"/>
            <a:ext cx="319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$147.650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49808" y="4315968"/>
            <a:ext cx="319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cotizaciones</a:t>
            </a:r>
            <a:endParaRPr lang="en-US" sz="10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aprobadas (14 y 24 ago)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12920" y="3584448"/>
            <a:ext cx="3563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14088" y="3712464"/>
            <a:ext cx="319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514088" y="4315968"/>
            <a:ext cx="319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cotizaciones aprobadas</a:t>
            </a:r>
            <a:endParaRPr lang="en-US" sz="10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ERP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77200" y="3584448"/>
            <a:ext cx="356311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EE3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78368" y="3712464"/>
            <a:ext cx="319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ago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8278368" y="4315968"/>
            <a:ext cx="319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confirmada</a:t>
            </a:r>
            <a:endParaRPr lang="en-US" sz="10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Cruzeiro Gomas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5742432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61B26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742432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clave: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en una primera lectura parecía inactividad (15–25 ago) fue trabajo sostenido por correo, uno a uno, fuera del ERP — no un vacío.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" cy="20116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Shape 1"/>
          <p:cNvSpPr/>
          <p:nvPr/>
        </p:nvSpPr>
        <p:spPr>
          <a:xfrm>
            <a:off x="630936" y="457200"/>
            <a:ext cx="45720" cy="201168"/>
          </a:xfrm>
          <a:prstGeom prst="rect">
            <a:avLst/>
          </a:prstGeom>
          <a:solidFill>
            <a:srgbClr val="7C5CFF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457200"/>
            <a:ext cx="45720" cy="201168"/>
          </a:xfrm>
          <a:prstGeom prst="rect">
            <a:avLst/>
          </a:prstGeom>
          <a:solidFill>
            <a:srgbClr val="12968F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4206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3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RMG AUTO PARTS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CÓMO SE VE LO QUE VIENE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2801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frentes para las próximas semanas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5385816" cy="1691640"/>
          </a:xfrm>
          <a:prstGeom prst="roundRect">
            <a:avLst>
              <a:gd name="adj" fmla="val 4865"/>
            </a:avLst>
          </a:prstGeom>
          <a:solidFill>
            <a:srgbClr val="1E2536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468880"/>
            <a:ext cx="457200" cy="457200"/>
          </a:xfrm>
          <a:prstGeom prst="ellipse">
            <a:avLst/>
          </a:prstGeom>
          <a:solidFill>
            <a:srgbClr val="12968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63040" y="2414016"/>
            <a:ext cx="4242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Cerrar la alianza con Cruzeiro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2907792"/>
            <a:ext cx="4197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Llegar a la reunión del jueves 27 de agosto con el paper de alianza terminado.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54496" y="2194560"/>
            <a:ext cx="5385816" cy="1691640"/>
          </a:xfrm>
          <a:prstGeom prst="roundRect">
            <a:avLst>
              <a:gd name="adj" fmla="val 4865"/>
            </a:avLst>
          </a:prstGeom>
          <a:solidFill>
            <a:srgbClr val="1E2536"/>
          </a:solidFill>
          <a:ln/>
        </p:spPr>
      </p:sp>
      <p:sp>
        <p:nvSpPr>
          <p:cNvPr id="14" name="Shape 12"/>
          <p:cNvSpPr/>
          <p:nvPr/>
        </p:nvSpPr>
        <p:spPr>
          <a:xfrm>
            <a:off x="6528816" y="2468880"/>
            <a:ext cx="457200" cy="457200"/>
          </a:xfrm>
          <a:prstGeom prst="ellipse">
            <a:avLst/>
          </a:prstGeom>
          <a:solidFill>
            <a:srgbClr val="B8720A"/>
          </a:solidFill>
          <a:ln/>
        </p:spPr>
      </p:sp>
      <p:sp>
        <p:nvSpPr>
          <p:cNvPr id="15" name="Text 13"/>
          <p:cNvSpPr/>
          <p:nvPr/>
        </p:nvSpPr>
        <p:spPr>
          <a:xfrm>
            <a:off x="6528816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168896" y="2414016"/>
            <a:ext cx="4242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Resolver el circuito comercial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68896" y="2907792"/>
            <a:ext cx="4197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Cotización → pedido → nota de venta → venta está bloqueado: bien mapeado pero aún sin corregir.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168896" y="3557016"/>
            <a:ext cx="4197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CRÍTICO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5385816" cy="1691640"/>
          </a:xfrm>
          <a:prstGeom prst="roundRect">
            <a:avLst>
              <a:gd name="adj" fmla="val 4865"/>
            </a:avLst>
          </a:prstGeom>
          <a:solidFill>
            <a:srgbClr val="1E2536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434840"/>
            <a:ext cx="457200" cy="457200"/>
          </a:xfrm>
          <a:prstGeom prst="ellipse">
            <a:avLst/>
          </a:prstGeom>
          <a:solidFill>
            <a:srgbClr val="12968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463040" y="4379976"/>
            <a:ext cx="4242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Definir el rol de Apollo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63040" y="4873752"/>
            <a:ext cx="4197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al pipeline manual y al motor de campañas ya existente en el ERP.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54496" y="4160520"/>
            <a:ext cx="5385816" cy="1691640"/>
          </a:xfrm>
          <a:prstGeom prst="roundRect">
            <a:avLst>
              <a:gd name="adj" fmla="val 4865"/>
            </a:avLst>
          </a:prstGeom>
          <a:solidFill>
            <a:srgbClr val="1E2536"/>
          </a:solidFill>
          <a:ln/>
        </p:spPr>
      </p:sp>
      <p:sp>
        <p:nvSpPr>
          <p:cNvPr id="25" name="Shape 23"/>
          <p:cNvSpPr/>
          <p:nvPr/>
        </p:nvSpPr>
        <p:spPr>
          <a:xfrm>
            <a:off x="6528816" y="4434840"/>
            <a:ext cx="457200" cy="457200"/>
          </a:xfrm>
          <a:prstGeom prst="ellipse">
            <a:avLst/>
          </a:prstGeom>
          <a:solidFill>
            <a:srgbClr val="12968F"/>
          </a:solidFill>
          <a:ln/>
        </p:spPr>
      </p:sp>
      <p:sp>
        <p:nvSpPr>
          <p:cNvPr id="26" name="Text 24"/>
          <p:cNvSpPr/>
          <p:nvPr/>
        </p:nvSpPr>
        <p:spPr>
          <a:xfrm>
            <a:off x="6528816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168896" y="4379976"/>
            <a:ext cx="4242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 seguimiento al pipeline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168896" y="4873752"/>
            <a:ext cx="4197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empresas contactadas y la ronda de seguimiento del 24 de agosto siguen sin respuesta confirmada.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A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hito: reunión con Cruzeiro Gomas — jueves 27 de agosto de 2026.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2026-08-25T16:16:38Z</dcterms:created>
  <dcterms:modified xsi:type="dcterms:W3CDTF">2026-08-25T16:16:38Z</dcterms:modified>
</cp:coreProperties>
</file>